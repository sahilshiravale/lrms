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256" r:id="rId5"/>
    <p:sldId id="257" r:id="rId6"/>
    <p:sldId id="286" r:id="rId7"/>
    <p:sldId id="287" r:id="rId8"/>
    <p:sldId id="288" r:id="rId9"/>
    <p:sldId id="289" r:id="rId10"/>
    <p:sldId id="290" r:id="rId11"/>
    <p:sldId id="291" r:id="rId12"/>
    <p:sldId id="292"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981B76-B1FF-4AE2-9755-1D14FBD0FF6A}" v="4" dt="2025-12-17T09:21:29.7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09" autoAdjust="0"/>
    <p:restoredTop sz="94660"/>
  </p:normalViewPr>
  <p:slideViewPr>
    <p:cSldViewPr snapToGrid="0">
      <p:cViewPr varScale="1">
        <p:scale>
          <a:sx n="75" d="100"/>
          <a:sy n="75" d="100"/>
        </p:scale>
        <p:origin x="48" y="168"/>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ravale, Sahil (Cognizant)" userId="7994c84c-23f1-4e93-aa07-d94b261d8b9d" providerId="ADAL" clId="{BBB3D62B-DFDC-4FA4-BA03-20B2B3E22788}"/>
    <pc:docChg chg="undo custSel addSld modSld">
      <pc:chgData name="Shiravale, Sahil (Cognizant)" userId="7994c84c-23f1-4e93-aa07-d94b261d8b9d" providerId="ADAL" clId="{BBB3D62B-DFDC-4FA4-BA03-20B2B3E22788}" dt="2025-12-17T09:34:31.589" v="590" actId="255"/>
      <pc:docMkLst>
        <pc:docMk/>
      </pc:docMkLst>
      <pc:sldChg chg="modSp mod">
        <pc:chgData name="Shiravale, Sahil (Cognizant)" userId="7994c84c-23f1-4e93-aa07-d94b261d8b9d" providerId="ADAL" clId="{BBB3D62B-DFDC-4FA4-BA03-20B2B3E22788}" dt="2025-12-16T11:20:47.208" v="4" actId="20577"/>
        <pc:sldMkLst>
          <pc:docMk/>
          <pc:sldMk cId="429771863" sldId="269"/>
        </pc:sldMkLst>
        <pc:spChg chg="mod">
          <ac:chgData name="Shiravale, Sahil (Cognizant)" userId="7994c84c-23f1-4e93-aa07-d94b261d8b9d" providerId="ADAL" clId="{BBB3D62B-DFDC-4FA4-BA03-20B2B3E22788}" dt="2025-12-16T11:20:47.208" v="4" actId="20577"/>
          <ac:spMkLst>
            <pc:docMk/>
            <pc:sldMk cId="429771863" sldId="269"/>
            <ac:spMk id="2" creationId="{632BE5BF-9922-45FB-8F3F-4446D40A051B}"/>
          </ac:spMkLst>
        </pc:spChg>
      </pc:sldChg>
      <pc:sldChg chg="modSp mod">
        <pc:chgData name="Shiravale, Sahil (Cognizant)" userId="7994c84c-23f1-4e93-aa07-d94b261d8b9d" providerId="ADAL" clId="{BBB3D62B-DFDC-4FA4-BA03-20B2B3E22788}" dt="2025-12-17T09:34:31.589" v="590" actId="255"/>
        <pc:sldMkLst>
          <pc:docMk/>
          <pc:sldMk cId="197516150" sldId="286"/>
        </pc:sldMkLst>
        <pc:spChg chg="mod">
          <ac:chgData name="Shiravale, Sahil (Cognizant)" userId="7994c84c-23f1-4e93-aa07-d94b261d8b9d" providerId="ADAL" clId="{BBB3D62B-DFDC-4FA4-BA03-20B2B3E22788}" dt="2025-12-17T09:34:31.589" v="590" actId="255"/>
          <ac:spMkLst>
            <pc:docMk/>
            <pc:sldMk cId="197516150" sldId="286"/>
            <ac:spMk id="3" creationId="{57122F4D-6DBE-76E3-23C6-DA4863FAB806}"/>
          </ac:spMkLst>
        </pc:spChg>
      </pc:sldChg>
      <pc:sldChg chg="modSp mod">
        <pc:chgData name="Shiravale, Sahil (Cognizant)" userId="7994c84c-23f1-4e93-aa07-d94b261d8b9d" providerId="ADAL" clId="{BBB3D62B-DFDC-4FA4-BA03-20B2B3E22788}" dt="2025-12-16T15:40:31.334" v="5" actId="1038"/>
        <pc:sldMkLst>
          <pc:docMk/>
          <pc:sldMk cId="1275753197" sldId="287"/>
        </pc:sldMkLst>
        <pc:spChg chg="mod">
          <ac:chgData name="Shiravale, Sahil (Cognizant)" userId="7994c84c-23f1-4e93-aa07-d94b261d8b9d" providerId="ADAL" clId="{BBB3D62B-DFDC-4FA4-BA03-20B2B3E22788}" dt="2025-12-16T15:40:31.334" v="5" actId="1038"/>
          <ac:spMkLst>
            <pc:docMk/>
            <pc:sldMk cId="1275753197" sldId="287"/>
            <ac:spMk id="6" creationId="{0534C765-E0AE-5C2B-03AE-D061F071D644}"/>
          </ac:spMkLst>
        </pc:spChg>
      </pc:sldChg>
      <pc:sldChg chg="addSp delSp modSp add mod modClrScheme chgLayout">
        <pc:chgData name="Shiravale, Sahil (Cognizant)" userId="7994c84c-23f1-4e93-aa07-d94b261d8b9d" providerId="ADAL" clId="{BBB3D62B-DFDC-4FA4-BA03-20B2B3E22788}" dt="2025-12-17T07:56:24.970" v="58" actId="1076"/>
        <pc:sldMkLst>
          <pc:docMk/>
          <pc:sldMk cId="598161385" sldId="289"/>
        </pc:sldMkLst>
        <pc:spChg chg="mod">
          <ac:chgData name="Shiravale, Sahil (Cognizant)" userId="7994c84c-23f1-4e93-aa07-d94b261d8b9d" providerId="ADAL" clId="{BBB3D62B-DFDC-4FA4-BA03-20B2B3E22788}" dt="2025-12-17T07:56:11.157" v="57" actId="26606"/>
          <ac:spMkLst>
            <pc:docMk/>
            <pc:sldMk cId="598161385" sldId="289"/>
            <ac:spMk id="2" creationId="{EBCE386B-D669-FBAA-377B-04F9F8F92324}"/>
          </ac:spMkLst>
        </pc:spChg>
        <pc:spChg chg="mod">
          <ac:chgData name="Shiravale, Sahil (Cognizant)" userId="7994c84c-23f1-4e93-aa07-d94b261d8b9d" providerId="ADAL" clId="{BBB3D62B-DFDC-4FA4-BA03-20B2B3E22788}" dt="2025-12-17T07:56:11.157" v="57" actId="26606"/>
          <ac:spMkLst>
            <pc:docMk/>
            <pc:sldMk cId="598161385" sldId="289"/>
            <ac:spMk id="4" creationId="{C7379DD5-B9E8-FEAA-AB63-B26D757F31F6}"/>
          </ac:spMkLst>
        </pc:spChg>
        <pc:spChg chg="del">
          <ac:chgData name="Shiravale, Sahil (Cognizant)" userId="7994c84c-23f1-4e93-aa07-d94b261d8b9d" providerId="ADAL" clId="{BBB3D62B-DFDC-4FA4-BA03-20B2B3E22788}" dt="2025-12-17T07:54:56.933" v="7" actId="21"/>
          <ac:spMkLst>
            <pc:docMk/>
            <pc:sldMk cId="598161385" sldId="289"/>
            <ac:spMk id="6" creationId="{35CE9C51-9138-4935-F05B-0EBD9C0A319B}"/>
          </ac:spMkLst>
        </pc:spChg>
        <pc:picChg chg="add mod">
          <ac:chgData name="Shiravale, Sahil (Cognizant)" userId="7994c84c-23f1-4e93-aa07-d94b261d8b9d" providerId="ADAL" clId="{BBB3D62B-DFDC-4FA4-BA03-20B2B3E22788}" dt="2025-12-17T07:56:24.970" v="58" actId="1076"/>
          <ac:picMkLst>
            <pc:docMk/>
            <pc:sldMk cId="598161385" sldId="289"/>
            <ac:picMk id="5" creationId="{7BFED2B1-5F4D-CF5C-5A4E-3480F54EC376}"/>
          </ac:picMkLst>
        </pc:picChg>
      </pc:sldChg>
      <pc:sldChg chg="addSp delSp modSp add mod">
        <pc:chgData name="Shiravale, Sahil (Cognizant)" userId="7994c84c-23f1-4e93-aa07-d94b261d8b9d" providerId="ADAL" clId="{BBB3D62B-DFDC-4FA4-BA03-20B2B3E22788}" dt="2025-12-17T08:02:08.189" v="81" actId="1076"/>
        <pc:sldMkLst>
          <pc:docMk/>
          <pc:sldMk cId="872466471" sldId="290"/>
        </pc:sldMkLst>
        <pc:spChg chg="mod">
          <ac:chgData name="Shiravale, Sahil (Cognizant)" userId="7994c84c-23f1-4e93-aa07-d94b261d8b9d" providerId="ADAL" clId="{BBB3D62B-DFDC-4FA4-BA03-20B2B3E22788}" dt="2025-12-17T08:02:08.189" v="81" actId="1076"/>
          <ac:spMkLst>
            <pc:docMk/>
            <pc:sldMk cId="872466471" sldId="290"/>
            <ac:spMk id="4" creationId="{3F0859A1-3006-58D3-15FE-ACE3C00AB762}"/>
          </ac:spMkLst>
        </pc:spChg>
        <pc:picChg chg="del">
          <ac:chgData name="Shiravale, Sahil (Cognizant)" userId="7994c84c-23f1-4e93-aa07-d94b261d8b9d" providerId="ADAL" clId="{BBB3D62B-DFDC-4FA4-BA03-20B2B3E22788}" dt="2025-12-17T07:56:40.803" v="60" actId="478"/>
          <ac:picMkLst>
            <pc:docMk/>
            <pc:sldMk cId="872466471" sldId="290"/>
            <ac:picMk id="5" creationId="{5FBF27D7-33E6-3376-EF8E-A5863FD1C16F}"/>
          </ac:picMkLst>
        </pc:picChg>
        <pc:picChg chg="add mod">
          <ac:chgData name="Shiravale, Sahil (Cognizant)" userId="7994c84c-23f1-4e93-aa07-d94b261d8b9d" providerId="ADAL" clId="{BBB3D62B-DFDC-4FA4-BA03-20B2B3E22788}" dt="2025-12-17T07:57:36.574" v="80" actId="1076"/>
          <ac:picMkLst>
            <pc:docMk/>
            <pc:sldMk cId="872466471" sldId="290"/>
            <ac:picMk id="6" creationId="{06D59E00-5D98-18E9-FFE9-4D97D4F4F07E}"/>
          </ac:picMkLst>
        </pc:picChg>
      </pc:sldChg>
      <pc:sldChg chg="addSp delSp modSp add mod">
        <pc:chgData name="Shiravale, Sahil (Cognizant)" userId="7994c84c-23f1-4e93-aa07-d94b261d8b9d" providerId="ADAL" clId="{BBB3D62B-DFDC-4FA4-BA03-20B2B3E22788}" dt="2025-12-17T08:42:38.881" v="104" actId="14100"/>
        <pc:sldMkLst>
          <pc:docMk/>
          <pc:sldMk cId="70016874" sldId="291"/>
        </pc:sldMkLst>
        <pc:spChg chg="mod">
          <ac:chgData name="Shiravale, Sahil (Cognizant)" userId="7994c84c-23f1-4e93-aa07-d94b261d8b9d" providerId="ADAL" clId="{BBB3D62B-DFDC-4FA4-BA03-20B2B3E22788}" dt="2025-12-17T08:15:26.801" v="100" actId="1076"/>
          <ac:spMkLst>
            <pc:docMk/>
            <pc:sldMk cId="70016874" sldId="291"/>
            <ac:spMk id="4" creationId="{9988F25D-B7C2-59FC-67D2-E1E5D607A0A9}"/>
          </ac:spMkLst>
        </pc:spChg>
        <pc:picChg chg="add mod">
          <ac:chgData name="Shiravale, Sahil (Cognizant)" userId="7994c84c-23f1-4e93-aa07-d94b261d8b9d" providerId="ADAL" clId="{BBB3D62B-DFDC-4FA4-BA03-20B2B3E22788}" dt="2025-12-17T08:42:38.881" v="104" actId="14100"/>
          <ac:picMkLst>
            <pc:docMk/>
            <pc:sldMk cId="70016874" sldId="291"/>
            <ac:picMk id="5" creationId="{D1DC67BB-EC39-AE02-A6F0-AE0EF5EC7735}"/>
          </ac:picMkLst>
        </pc:picChg>
        <pc:picChg chg="del">
          <ac:chgData name="Shiravale, Sahil (Cognizant)" userId="7994c84c-23f1-4e93-aa07-d94b261d8b9d" providerId="ADAL" clId="{BBB3D62B-DFDC-4FA4-BA03-20B2B3E22788}" dt="2025-12-17T08:15:09.186" v="83" actId="478"/>
          <ac:picMkLst>
            <pc:docMk/>
            <pc:sldMk cId="70016874" sldId="291"/>
            <ac:picMk id="6" creationId="{591E9856-58FA-6D3A-13A2-C880E9DD5A77}"/>
          </ac:picMkLst>
        </pc:picChg>
      </pc:sldChg>
      <pc:sldChg chg="addSp delSp modSp add mod">
        <pc:chgData name="Shiravale, Sahil (Cognizant)" userId="7994c84c-23f1-4e93-aa07-d94b261d8b9d" providerId="ADAL" clId="{BBB3D62B-DFDC-4FA4-BA03-20B2B3E22788}" dt="2025-12-17T09:28:36.110" v="586" actId="113"/>
        <pc:sldMkLst>
          <pc:docMk/>
          <pc:sldMk cId="1612075846" sldId="292"/>
        </pc:sldMkLst>
        <pc:spChg chg="add mod">
          <ac:chgData name="Shiravale, Sahil (Cognizant)" userId="7994c84c-23f1-4e93-aa07-d94b261d8b9d" providerId="ADAL" clId="{BBB3D62B-DFDC-4FA4-BA03-20B2B3E22788}" dt="2025-12-17T09:28:36.110" v="586" actId="113"/>
          <ac:spMkLst>
            <pc:docMk/>
            <pc:sldMk cId="1612075846" sldId="292"/>
            <ac:spMk id="3" creationId="{25D70130-01A4-E809-9DE1-67275CFFB937}"/>
          </ac:spMkLst>
        </pc:spChg>
        <pc:spChg chg="mod">
          <ac:chgData name="Shiravale, Sahil (Cognizant)" userId="7994c84c-23f1-4e93-aa07-d94b261d8b9d" providerId="ADAL" clId="{BBB3D62B-DFDC-4FA4-BA03-20B2B3E22788}" dt="2025-12-17T09:20:02.804" v="138" actId="1076"/>
          <ac:spMkLst>
            <pc:docMk/>
            <pc:sldMk cId="1612075846" sldId="292"/>
            <ac:spMk id="4" creationId="{B235619B-EA2C-FADF-DC42-290398895809}"/>
          </ac:spMkLst>
        </pc:spChg>
        <pc:picChg chg="del">
          <ac:chgData name="Shiravale, Sahil (Cognizant)" userId="7994c84c-23f1-4e93-aa07-d94b261d8b9d" providerId="ADAL" clId="{BBB3D62B-DFDC-4FA4-BA03-20B2B3E22788}" dt="2025-12-17T09:19:34.479" v="106" actId="478"/>
          <ac:picMkLst>
            <pc:docMk/>
            <pc:sldMk cId="1612075846" sldId="292"/>
            <ac:picMk id="5" creationId="{835B4D2B-2564-111D-D71C-48E1A371E102}"/>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12/17/2025</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12/17/2025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pPr algn="ctr"/>
            <a:r>
              <a:rPr lang="en-US" sz="4000" dirty="0">
                <a:solidFill>
                  <a:schemeClr val="bg1">
                    <a:lumMod val="95000"/>
                  </a:schemeClr>
                </a:solidFill>
              </a:rPr>
              <a:t>LEAVE REQUEST MANAGEMENT SYSTEM</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3137982" y="-259679"/>
            <a:ext cx="7781544" cy="859055"/>
          </a:xfrm>
        </p:spPr>
        <p:txBody>
          <a:bodyPr>
            <a:normAutofit/>
          </a:bodyPr>
          <a:lstStyle/>
          <a:p>
            <a:r>
              <a:rPr lang="en-US" sz="3600" dirty="0"/>
              <a:t>PROBLEM STATEMENT</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6" name="TextBox 5">
            <a:extLst>
              <a:ext uri="{FF2B5EF4-FFF2-40B4-BE49-F238E27FC236}">
                <a16:creationId xmlns:a16="http://schemas.microsoft.com/office/drawing/2014/main" id="{E9C66B67-290A-2098-7855-D4A8733DAF2F}"/>
              </a:ext>
            </a:extLst>
          </p:cNvPr>
          <p:cNvSpPr txBox="1"/>
          <p:nvPr/>
        </p:nvSpPr>
        <p:spPr>
          <a:xfrm>
            <a:off x="660223" y="1868557"/>
            <a:ext cx="7887429" cy="2585323"/>
          </a:xfrm>
          <a:prstGeom prst="rect">
            <a:avLst/>
          </a:prstGeom>
          <a:noFill/>
        </p:spPr>
        <p:txBody>
          <a:bodyPr wrap="square" rtlCol="0">
            <a:spAutoFit/>
          </a:bodyPr>
          <a:lstStyle/>
          <a:p>
            <a:pPr algn="just"/>
            <a:r>
              <a:rPr lang="en-US" dirty="0">
                <a:solidFill>
                  <a:schemeClr val="bg1"/>
                </a:solidFill>
              </a:rPr>
              <a:t>The existing leave request management system provides essential modules such as employee self‑service, manager dashboards, absence management, approvals, reporting, and viewing. However, the current user interface is outdated and not optimized for ease of use, resulting in a less engaging experience for employees and managers. Navigating dashboards, submitting requests, and tracking approvals can feel cumbersome, which reduces efficiency and adoption. A modern, intuitive UI is needed to improve accessibility, streamline interactions, and enhance the overall user experience while keeping the system’s core functionality intact.</a:t>
            </a:r>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EC04F-230C-EDEE-2E2B-51A859BBBAB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5C675AE-D205-AE97-F63E-B9691292F7B1}"/>
              </a:ext>
            </a:extLst>
          </p:cNvPr>
          <p:cNvSpPr>
            <a:spLocks noGrp="1"/>
          </p:cNvSpPr>
          <p:nvPr>
            <p:ph type="title"/>
          </p:nvPr>
        </p:nvSpPr>
        <p:spPr>
          <a:xfrm>
            <a:off x="4513558" y="-347143"/>
            <a:ext cx="7781544" cy="859055"/>
          </a:xfrm>
        </p:spPr>
        <p:txBody>
          <a:bodyPr>
            <a:normAutofit/>
          </a:bodyPr>
          <a:lstStyle/>
          <a:p>
            <a:r>
              <a:rPr lang="en-US" sz="3600" dirty="0"/>
              <a:t>SOLUTION</a:t>
            </a:r>
          </a:p>
        </p:txBody>
      </p:sp>
      <p:sp>
        <p:nvSpPr>
          <p:cNvPr id="2" name="Slide Number Placeholder 1">
            <a:extLst>
              <a:ext uri="{FF2B5EF4-FFF2-40B4-BE49-F238E27FC236}">
                <a16:creationId xmlns:a16="http://schemas.microsoft.com/office/drawing/2014/main" id="{976D7CC1-3DF5-293F-1348-5B008A418C03}"/>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3" name="TextBox 2">
            <a:extLst>
              <a:ext uri="{FF2B5EF4-FFF2-40B4-BE49-F238E27FC236}">
                <a16:creationId xmlns:a16="http://schemas.microsoft.com/office/drawing/2014/main" id="{57122F4D-6DBE-76E3-23C6-DA4863FAB806}"/>
              </a:ext>
            </a:extLst>
          </p:cNvPr>
          <p:cNvSpPr txBox="1"/>
          <p:nvPr/>
        </p:nvSpPr>
        <p:spPr>
          <a:xfrm>
            <a:off x="159026" y="1332489"/>
            <a:ext cx="2790908" cy="1384995"/>
          </a:xfrm>
          <a:prstGeom prst="rect">
            <a:avLst/>
          </a:prstGeom>
          <a:noFill/>
        </p:spPr>
        <p:txBody>
          <a:bodyPr wrap="square" rtlCol="0">
            <a:spAutoFit/>
          </a:bodyPr>
          <a:lstStyle/>
          <a:p>
            <a:pPr marL="285750" indent="-285750">
              <a:buFont typeface="Wingdings" panose="05000000000000000000" pitchFamily="2" charset="2"/>
              <a:buChar char="§"/>
            </a:pPr>
            <a:r>
              <a:rPr lang="en-US" sz="1200" b="1" dirty="0">
                <a:solidFill>
                  <a:schemeClr val="bg1"/>
                </a:solidFill>
              </a:rPr>
              <a:t>Retain Existing Modules</a:t>
            </a:r>
          </a:p>
          <a:p>
            <a:endParaRPr lang="en-US" sz="1200" dirty="0">
              <a:solidFill>
                <a:schemeClr val="bg1"/>
              </a:solidFill>
            </a:endParaRPr>
          </a:p>
          <a:p>
            <a:pPr algn="just"/>
            <a:r>
              <a:rPr lang="en-US" sz="1200" dirty="0">
                <a:solidFill>
                  <a:schemeClr val="bg1"/>
                </a:solidFill>
              </a:rPr>
              <a:t>Employee Self Service Dashboard, Manager Dashboard, Manage Absence, Approve Section, Report Section, Absence Analytics and View Section remain unchanged.</a:t>
            </a:r>
          </a:p>
        </p:txBody>
      </p:sp>
      <p:sp>
        <p:nvSpPr>
          <p:cNvPr id="5" name="TextBox 4">
            <a:extLst>
              <a:ext uri="{FF2B5EF4-FFF2-40B4-BE49-F238E27FC236}">
                <a16:creationId xmlns:a16="http://schemas.microsoft.com/office/drawing/2014/main" id="{297FEE35-23BC-6D53-2452-5CDAF2D1C8B9}"/>
              </a:ext>
            </a:extLst>
          </p:cNvPr>
          <p:cNvSpPr txBox="1"/>
          <p:nvPr/>
        </p:nvSpPr>
        <p:spPr>
          <a:xfrm>
            <a:off x="3428338" y="1332489"/>
            <a:ext cx="2790908" cy="1015663"/>
          </a:xfrm>
          <a:prstGeom prst="rect">
            <a:avLst/>
          </a:prstGeom>
          <a:noFill/>
        </p:spPr>
        <p:txBody>
          <a:bodyPr wrap="square" rtlCol="0">
            <a:spAutoFit/>
          </a:bodyPr>
          <a:lstStyle/>
          <a:p>
            <a:pPr marL="285750" indent="-285750">
              <a:buFont typeface="Wingdings" panose="05000000000000000000" pitchFamily="2" charset="2"/>
              <a:buChar char="§"/>
            </a:pPr>
            <a:r>
              <a:rPr lang="en-US" sz="1200" b="1" dirty="0">
                <a:solidFill>
                  <a:schemeClr val="bg1"/>
                </a:solidFill>
              </a:rPr>
              <a:t>Modern User Interface </a:t>
            </a:r>
          </a:p>
          <a:p>
            <a:pPr marL="285750" indent="-285750">
              <a:buFont typeface="Wingdings" panose="05000000000000000000" pitchFamily="2" charset="2"/>
              <a:buChar char="§"/>
            </a:pPr>
            <a:endParaRPr lang="en-US" sz="1200" dirty="0">
              <a:solidFill>
                <a:schemeClr val="bg1"/>
              </a:solidFill>
            </a:endParaRPr>
          </a:p>
          <a:p>
            <a:pPr algn="just"/>
            <a:r>
              <a:rPr lang="en-US" sz="1200" dirty="0">
                <a:solidFill>
                  <a:schemeClr val="bg1"/>
                </a:solidFill>
              </a:rPr>
              <a:t>Redesigned UI with intuitive navigation, clean layouts, and improved accessibility.</a:t>
            </a:r>
          </a:p>
        </p:txBody>
      </p:sp>
      <p:sp>
        <p:nvSpPr>
          <p:cNvPr id="7" name="TextBox 6">
            <a:extLst>
              <a:ext uri="{FF2B5EF4-FFF2-40B4-BE49-F238E27FC236}">
                <a16:creationId xmlns:a16="http://schemas.microsoft.com/office/drawing/2014/main" id="{5D943077-1387-FD87-DA9E-3236741D8D9D}"/>
              </a:ext>
            </a:extLst>
          </p:cNvPr>
          <p:cNvSpPr txBox="1"/>
          <p:nvPr/>
        </p:nvSpPr>
        <p:spPr>
          <a:xfrm>
            <a:off x="3423037" y="3124854"/>
            <a:ext cx="3066553" cy="1384995"/>
          </a:xfrm>
          <a:prstGeom prst="rect">
            <a:avLst/>
          </a:prstGeom>
          <a:noFill/>
        </p:spPr>
        <p:txBody>
          <a:bodyPr wrap="square" rtlCol="0">
            <a:spAutoFit/>
          </a:bodyPr>
          <a:lstStyle/>
          <a:p>
            <a:pPr marL="285750" indent="-285750">
              <a:buFont typeface="Wingdings" panose="05000000000000000000" pitchFamily="2" charset="2"/>
              <a:buChar char="§"/>
            </a:pPr>
            <a:r>
              <a:rPr lang="en-US" sz="1200" b="1" dirty="0">
                <a:solidFill>
                  <a:schemeClr val="bg1"/>
                </a:solidFill>
              </a:rPr>
              <a:t>Enhanced Employee Experience</a:t>
            </a:r>
          </a:p>
          <a:p>
            <a:pPr marL="285750" indent="-285750">
              <a:buFont typeface="Wingdings" panose="05000000000000000000" pitchFamily="2" charset="2"/>
              <a:buChar char="§"/>
            </a:pPr>
            <a:endParaRPr lang="en-US" sz="1200" b="1" dirty="0">
              <a:solidFill>
                <a:schemeClr val="bg1"/>
              </a:solidFill>
            </a:endParaRPr>
          </a:p>
          <a:p>
            <a:r>
              <a:rPr lang="en-US" sz="1200" dirty="0">
                <a:solidFill>
                  <a:schemeClr val="bg1"/>
                </a:solidFill>
              </a:rPr>
              <a:t>Easier leave application, balance tracking, and request monitoring through a self‑service dashboard.</a:t>
            </a:r>
            <a:endParaRPr lang="en-US" sz="1200" b="1" dirty="0">
              <a:solidFill>
                <a:schemeClr val="bg1"/>
              </a:solidFill>
            </a:endParaRPr>
          </a:p>
          <a:p>
            <a:pPr marL="285750" indent="-285750">
              <a:buFont typeface="Wingdings" panose="05000000000000000000" pitchFamily="2" charset="2"/>
              <a:buChar char="§"/>
            </a:pPr>
            <a:endParaRPr lang="en-US" sz="1200" dirty="0">
              <a:solidFill>
                <a:schemeClr val="bg1"/>
              </a:solidFill>
            </a:endParaRPr>
          </a:p>
          <a:p>
            <a:pPr algn="just"/>
            <a:endParaRPr lang="en-US" sz="1200" dirty="0">
              <a:solidFill>
                <a:schemeClr val="bg1"/>
              </a:solidFill>
            </a:endParaRPr>
          </a:p>
        </p:txBody>
      </p:sp>
      <p:sp>
        <p:nvSpPr>
          <p:cNvPr id="10" name="TextBox 9">
            <a:extLst>
              <a:ext uri="{FF2B5EF4-FFF2-40B4-BE49-F238E27FC236}">
                <a16:creationId xmlns:a16="http://schemas.microsoft.com/office/drawing/2014/main" id="{8D373CA4-88DB-07C8-5A65-7D1A214C1CBE}"/>
              </a:ext>
            </a:extLst>
          </p:cNvPr>
          <p:cNvSpPr txBox="1"/>
          <p:nvPr/>
        </p:nvSpPr>
        <p:spPr>
          <a:xfrm>
            <a:off x="159026" y="3242127"/>
            <a:ext cx="2790908" cy="1015663"/>
          </a:xfrm>
          <a:prstGeom prst="rect">
            <a:avLst/>
          </a:prstGeom>
          <a:noFill/>
        </p:spPr>
        <p:txBody>
          <a:bodyPr wrap="square" rtlCol="0">
            <a:spAutoFit/>
          </a:bodyPr>
          <a:lstStyle/>
          <a:p>
            <a:pPr marL="285750" indent="-285750">
              <a:buFont typeface="Wingdings" panose="05000000000000000000" pitchFamily="2" charset="2"/>
              <a:buChar char="§"/>
            </a:pPr>
            <a:r>
              <a:rPr lang="en-US" sz="1200" b="1" dirty="0">
                <a:solidFill>
                  <a:schemeClr val="bg1"/>
                </a:solidFill>
              </a:rPr>
              <a:t>Improved Manager Tools</a:t>
            </a:r>
          </a:p>
          <a:p>
            <a:endParaRPr lang="en-US" sz="1200" dirty="0">
              <a:solidFill>
                <a:schemeClr val="bg1"/>
              </a:solidFill>
            </a:endParaRPr>
          </a:p>
          <a:p>
            <a:pPr algn="just"/>
            <a:r>
              <a:rPr lang="en-US" sz="1200" dirty="0">
                <a:solidFill>
                  <a:schemeClr val="bg1"/>
                </a:solidFill>
              </a:rPr>
              <a:t>Streamlined approval workflows, clearer team availability calendars, and conflict alerts for faster decisions.</a:t>
            </a:r>
          </a:p>
        </p:txBody>
      </p:sp>
      <p:sp>
        <p:nvSpPr>
          <p:cNvPr id="11" name="TextBox 10">
            <a:extLst>
              <a:ext uri="{FF2B5EF4-FFF2-40B4-BE49-F238E27FC236}">
                <a16:creationId xmlns:a16="http://schemas.microsoft.com/office/drawing/2014/main" id="{C10008B0-97FC-BA33-5469-CAB100143987}"/>
              </a:ext>
            </a:extLst>
          </p:cNvPr>
          <p:cNvSpPr txBox="1"/>
          <p:nvPr/>
        </p:nvSpPr>
        <p:spPr>
          <a:xfrm>
            <a:off x="159026" y="4882506"/>
            <a:ext cx="2790908" cy="1015663"/>
          </a:xfrm>
          <a:prstGeom prst="rect">
            <a:avLst/>
          </a:prstGeom>
          <a:noFill/>
        </p:spPr>
        <p:txBody>
          <a:bodyPr wrap="square" rtlCol="0">
            <a:spAutoFit/>
          </a:bodyPr>
          <a:lstStyle/>
          <a:p>
            <a:pPr marL="285750" indent="-285750">
              <a:buFont typeface="Wingdings" panose="05000000000000000000" pitchFamily="2" charset="2"/>
              <a:buChar char="§"/>
            </a:pPr>
            <a:r>
              <a:rPr lang="en-US" sz="1200" b="1" dirty="0">
                <a:solidFill>
                  <a:schemeClr val="bg1"/>
                </a:solidFill>
              </a:rPr>
              <a:t>Focus and usability</a:t>
            </a:r>
          </a:p>
          <a:p>
            <a:endParaRPr lang="en-US" sz="1200" dirty="0">
              <a:solidFill>
                <a:schemeClr val="bg1"/>
              </a:solidFill>
            </a:endParaRPr>
          </a:p>
          <a:p>
            <a:pPr algn="just"/>
            <a:r>
              <a:rPr lang="en-US" sz="1200" dirty="0">
                <a:solidFill>
                  <a:schemeClr val="bg1"/>
                </a:solidFill>
              </a:rPr>
              <a:t>Simplified interactions, reduced clicks, and visually engaging dashboards to boost adoption.</a:t>
            </a:r>
          </a:p>
        </p:txBody>
      </p:sp>
      <p:sp>
        <p:nvSpPr>
          <p:cNvPr id="12" name="TextBox 11">
            <a:extLst>
              <a:ext uri="{FF2B5EF4-FFF2-40B4-BE49-F238E27FC236}">
                <a16:creationId xmlns:a16="http://schemas.microsoft.com/office/drawing/2014/main" id="{B364846C-89FB-7458-7E80-089FA41391DB}"/>
              </a:ext>
            </a:extLst>
          </p:cNvPr>
          <p:cNvSpPr txBox="1"/>
          <p:nvPr/>
        </p:nvSpPr>
        <p:spPr>
          <a:xfrm>
            <a:off x="3428338" y="4882506"/>
            <a:ext cx="2790908" cy="1015663"/>
          </a:xfrm>
          <a:prstGeom prst="rect">
            <a:avLst/>
          </a:prstGeom>
          <a:noFill/>
        </p:spPr>
        <p:txBody>
          <a:bodyPr wrap="square" rtlCol="0">
            <a:spAutoFit/>
          </a:bodyPr>
          <a:lstStyle/>
          <a:p>
            <a:pPr marL="285750" indent="-285750">
              <a:buFont typeface="Wingdings" panose="05000000000000000000" pitchFamily="2" charset="2"/>
              <a:buChar char="§"/>
            </a:pPr>
            <a:r>
              <a:rPr lang="en-US" sz="1200" b="1" dirty="0">
                <a:solidFill>
                  <a:schemeClr val="bg1"/>
                </a:solidFill>
              </a:rPr>
              <a:t>Outcome</a:t>
            </a:r>
          </a:p>
          <a:p>
            <a:endParaRPr lang="en-US" sz="1200" dirty="0">
              <a:solidFill>
                <a:schemeClr val="bg1"/>
              </a:solidFill>
            </a:endParaRPr>
          </a:p>
          <a:p>
            <a:pPr algn="just"/>
            <a:r>
              <a:rPr lang="en-US" sz="1200" dirty="0">
                <a:solidFill>
                  <a:schemeClr val="bg1"/>
                </a:solidFill>
              </a:rPr>
              <a:t>Greater efficiency, transparency, and satisfaction without altering the system’s core functionality.</a:t>
            </a:r>
          </a:p>
        </p:txBody>
      </p:sp>
    </p:spTree>
    <p:extLst>
      <p:ext uri="{BB962C8B-B14F-4D97-AF65-F5344CB8AC3E}">
        <p14:creationId xmlns:p14="http://schemas.microsoft.com/office/powerpoint/2010/main" val="197516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8464C-0BE5-195A-EA6A-48A445DA499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7B9C9CB-CE8A-8DDC-B44C-242CED041EBB}"/>
              </a:ext>
            </a:extLst>
          </p:cNvPr>
          <p:cNvSpPr>
            <a:spLocks noGrp="1"/>
          </p:cNvSpPr>
          <p:nvPr>
            <p:ph type="title"/>
          </p:nvPr>
        </p:nvSpPr>
        <p:spPr>
          <a:xfrm>
            <a:off x="3193641" y="-283533"/>
            <a:ext cx="7781544" cy="859055"/>
          </a:xfrm>
        </p:spPr>
        <p:txBody>
          <a:bodyPr>
            <a:normAutofit/>
          </a:bodyPr>
          <a:lstStyle/>
          <a:p>
            <a:r>
              <a:rPr lang="en-US" sz="3600" dirty="0"/>
              <a:t>FEATURES FOR EMPLOYEE</a:t>
            </a:r>
          </a:p>
        </p:txBody>
      </p:sp>
      <p:sp>
        <p:nvSpPr>
          <p:cNvPr id="2" name="Slide Number Placeholder 1">
            <a:extLst>
              <a:ext uri="{FF2B5EF4-FFF2-40B4-BE49-F238E27FC236}">
                <a16:creationId xmlns:a16="http://schemas.microsoft.com/office/drawing/2014/main" id="{BDFAD90E-FF2F-AF6F-9867-338E6B94E315}"/>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
        <p:nvSpPr>
          <p:cNvPr id="6" name="TextBox 5">
            <a:extLst>
              <a:ext uri="{FF2B5EF4-FFF2-40B4-BE49-F238E27FC236}">
                <a16:creationId xmlns:a16="http://schemas.microsoft.com/office/drawing/2014/main" id="{0534C765-E0AE-5C2B-03AE-D061F071D644}"/>
              </a:ext>
            </a:extLst>
          </p:cNvPr>
          <p:cNvSpPr txBox="1"/>
          <p:nvPr/>
        </p:nvSpPr>
        <p:spPr>
          <a:xfrm>
            <a:off x="612250" y="1757238"/>
            <a:ext cx="6702950" cy="3785652"/>
          </a:xfrm>
          <a:prstGeom prst="rect">
            <a:avLst/>
          </a:prstGeom>
          <a:noFill/>
        </p:spPr>
        <p:txBody>
          <a:bodyPr wrap="square" rtlCol="0">
            <a:spAutoFit/>
          </a:bodyPr>
          <a:lstStyle/>
          <a:p>
            <a:pPr marL="342900" indent="-342900">
              <a:buFont typeface="+mj-lt"/>
              <a:buAutoNum type="arabicPeriod"/>
            </a:pPr>
            <a:r>
              <a:rPr lang="en-US" sz="1600" b="1" dirty="0">
                <a:solidFill>
                  <a:schemeClr val="bg1"/>
                </a:solidFill>
              </a:rPr>
              <a:t>Apply / Schedule Leave</a:t>
            </a:r>
            <a:r>
              <a:rPr lang="en-US" sz="1600" dirty="0">
                <a:solidFill>
                  <a:schemeClr val="bg1"/>
                </a:solidFill>
              </a:rPr>
              <a:t> – Submit requests for different types of leave with ease</a:t>
            </a:r>
          </a:p>
          <a:p>
            <a:pPr marL="342900" indent="-342900">
              <a:buFont typeface="+mj-lt"/>
              <a:buAutoNum type="arabicPeriod"/>
            </a:pPr>
            <a:endParaRPr lang="en-US" sz="1600" dirty="0">
              <a:solidFill>
                <a:schemeClr val="bg1"/>
              </a:solidFill>
            </a:endParaRPr>
          </a:p>
          <a:p>
            <a:pPr marL="342900" indent="-342900">
              <a:buFont typeface="+mj-lt"/>
              <a:buAutoNum type="arabicPeriod"/>
            </a:pPr>
            <a:r>
              <a:rPr lang="en-US" sz="1600" b="1" dirty="0">
                <a:solidFill>
                  <a:schemeClr val="bg1"/>
                </a:solidFill>
              </a:rPr>
              <a:t>Absence History</a:t>
            </a:r>
            <a:r>
              <a:rPr lang="en-US" sz="1600" dirty="0">
                <a:solidFill>
                  <a:schemeClr val="bg1"/>
                </a:solidFill>
              </a:rPr>
              <a:t> – View past leave records and approvals</a:t>
            </a:r>
          </a:p>
          <a:p>
            <a:pPr marL="342900" indent="-342900">
              <a:buFont typeface="+mj-lt"/>
              <a:buAutoNum type="arabicPeriod"/>
            </a:pPr>
            <a:endParaRPr lang="en-US" sz="1600" dirty="0">
              <a:solidFill>
                <a:schemeClr val="bg1"/>
              </a:solidFill>
            </a:endParaRPr>
          </a:p>
          <a:p>
            <a:pPr marL="342900" indent="-342900">
              <a:buFont typeface="+mj-lt"/>
              <a:buAutoNum type="arabicPeriod"/>
            </a:pPr>
            <a:r>
              <a:rPr lang="en-US" sz="1600" b="1" dirty="0">
                <a:solidFill>
                  <a:schemeClr val="bg1"/>
                </a:solidFill>
              </a:rPr>
              <a:t>Leave Balances</a:t>
            </a:r>
            <a:r>
              <a:rPr lang="en-US" sz="1600" dirty="0">
                <a:solidFill>
                  <a:schemeClr val="bg1"/>
                </a:solidFill>
              </a:rPr>
              <a:t> – Check available leave balance in real time</a:t>
            </a:r>
          </a:p>
          <a:p>
            <a:pPr marL="342900" indent="-342900">
              <a:buFont typeface="+mj-lt"/>
              <a:buAutoNum type="arabicPeriod"/>
            </a:pPr>
            <a:endParaRPr lang="en-US" sz="1600" dirty="0">
              <a:solidFill>
                <a:schemeClr val="bg1"/>
              </a:solidFill>
            </a:endParaRPr>
          </a:p>
          <a:p>
            <a:pPr marL="342900" indent="-342900">
              <a:buFont typeface="+mj-lt"/>
              <a:buAutoNum type="arabicPeriod"/>
            </a:pPr>
            <a:r>
              <a:rPr lang="en-US" sz="1600" b="1" dirty="0">
                <a:solidFill>
                  <a:schemeClr val="bg1"/>
                </a:solidFill>
              </a:rPr>
              <a:t>Cancel Leave</a:t>
            </a:r>
            <a:r>
              <a:rPr lang="en-US" sz="1600" dirty="0">
                <a:solidFill>
                  <a:schemeClr val="bg1"/>
                </a:solidFill>
              </a:rPr>
              <a:t> – Withdraw or cancel previously applied leave requests</a:t>
            </a:r>
          </a:p>
          <a:p>
            <a:pPr marL="342900" indent="-342900">
              <a:buFont typeface="+mj-lt"/>
              <a:buAutoNum type="arabicPeriod"/>
            </a:pPr>
            <a:endParaRPr lang="en-US" sz="1600" dirty="0">
              <a:solidFill>
                <a:schemeClr val="bg1"/>
              </a:solidFill>
            </a:endParaRPr>
          </a:p>
          <a:p>
            <a:pPr marL="342900" indent="-342900">
              <a:buFont typeface="+mj-lt"/>
              <a:buAutoNum type="arabicPeriod"/>
            </a:pPr>
            <a:r>
              <a:rPr lang="en-US" sz="1600" b="1" dirty="0">
                <a:solidFill>
                  <a:schemeClr val="bg1"/>
                </a:solidFill>
              </a:rPr>
              <a:t>Compensatory Off Request</a:t>
            </a:r>
            <a:r>
              <a:rPr lang="en-US" sz="1600" dirty="0">
                <a:solidFill>
                  <a:schemeClr val="bg1"/>
                </a:solidFill>
              </a:rPr>
              <a:t> – Apply for compensatory off based on extra work hours/days</a:t>
            </a:r>
          </a:p>
          <a:p>
            <a:pPr marL="342900" indent="-342900">
              <a:buFont typeface="+mj-lt"/>
              <a:buAutoNum type="arabicPeriod"/>
            </a:pPr>
            <a:endParaRPr lang="en-US" sz="1600" dirty="0">
              <a:solidFill>
                <a:schemeClr val="bg1"/>
              </a:solidFill>
            </a:endParaRPr>
          </a:p>
          <a:p>
            <a:pPr marL="342900" indent="-342900">
              <a:buFont typeface="+mj-lt"/>
              <a:buAutoNum type="arabicPeriod"/>
            </a:pPr>
            <a:r>
              <a:rPr lang="en-US" sz="1600" b="1" dirty="0">
                <a:solidFill>
                  <a:schemeClr val="bg1"/>
                </a:solidFill>
              </a:rPr>
              <a:t>Compensatory Off Status</a:t>
            </a:r>
            <a:r>
              <a:rPr lang="en-US" sz="1600" dirty="0">
                <a:solidFill>
                  <a:schemeClr val="bg1"/>
                </a:solidFill>
              </a:rPr>
              <a:t> – Track approval status of compensatory off requests</a:t>
            </a:r>
          </a:p>
        </p:txBody>
      </p:sp>
    </p:spTree>
    <p:extLst>
      <p:ext uri="{BB962C8B-B14F-4D97-AF65-F5344CB8AC3E}">
        <p14:creationId xmlns:p14="http://schemas.microsoft.com/office/powerpoint/2010/main" val="1275753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827DD-40D2-47CA-3A5C-8C3AEDF155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4471796-BC5F-B98B-7DB3-DF9C3D5A6DD5}"/>
              </a:ext>
            </a:extLst>
          </p:cNvPr>
          <p:cNvSpPr>
            <a:spLocks noGrp="1"/>
          </p:cNvSpPr>
          <p:nvPr>
            <p:ph type="title"/>
          </p:nvPr>
        </p:nvSpPr>
        <p:spPr>
          <a:xfrm>
            <a:off x="3193641" y="-283533"/>
            <a:ext cx="7781544" cy="859055"/>
          </a:xfrm>
        </p:spPr>
        <p:txBody>
          <a:bodyPr>
            <a:normAutofit/>
          </a:bodyPr>
          <a:lstStyle/>
          <a:p>
            <a:r>
              <a:rPr lang="en-US" sz="3600" dirty="0"/>
              <a:t>FEATURES FOR MANAGER</a:t>
            </a:r>
          </a:p>
        </p:txBody>
      </p:sp>
      <p:sp>
        <p:nvSpPr>
          <p:cNvPr id="2" name="Slide Number Placeholder 1">
            <a:extLst>
              <a:ext uri="{FF2B5EF4-FFF2-40B4-BE49-F238E27FC236}">
                <a16:creationId xmlns:a16="http://schemas.microsoft.com/office/drawing/2014/main" id="{4E1EE0AE-B63E-B7AE-7834-5A82ACF51807}"/>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6" name="TextBox 5">
            <a:extLst>
              <a:ext uri="{FF2B5EF4-FFF2-40B4-BE49-F238E27FC236}">
                <a16:creationId xmlns:a16="http://schemas.microsoft.com/office/drawing/2014/main" id="{61ED244D-C333-D706-442E-2DFF22C684B6}"/>
              </a:ext>
            </a:extLst>
          </p:cNvPr>
          <p:cNvSpPr txBox="1"/>
          <p:nvPr/>
        </p:nvSpPr>
        <p:spPr>
          <a:xfrm>
            <a:off x="381463" y="1129085"/>
            <a:ext cx="6702950" cy="5170646"/>
          </a:xfrm>
          <a:prstGeom prst="rect">
            <a:avLst/>
          </a:prstGeom>
          <a:noFill/>
        </p:spPr>
        <p:txBody>
          <a:bodyPr wrap="square" rtlCol="0">
            <a:spAutoFit/>
          </a:bodyPr>
          <a:lstStyle/>
          <a:p>
            <a:pPr marL="285750" indent="-285750">
              <a:buFont typeface="Wingdings" panose="05000000000000000000" pitchFamily="2" charset="2"/>
              <a:buChar char="q"/>
            </a:pPr>
            <a:r>
              <a:rPr lang="en-US" sz="1400" dirty="0">
                <a:solidFill>
                  <a:schemeClr val="bg1"/>
                </a:solidFill>
              </a:rPr>
              <a:t>Approve Section:-</a:t>
            </a:r>
          </a:p>
          <a:p>
            <a:endParaRPr lang="en-US" sz="1400" dirty="0">
              <a:solidFill>
                <a:schemeClr val="bg1"/>
              </a:solidFill>
            </a:endParaRPr>
          </a:p>
          <a:p>
            <a:pPr marL="342900" indent="-342900">
              <a:buFont typeface="+mj-lt"/>
              <a:buAutoNum type="arabicPeriod"/>
            </a:pPr>
            <a:r>
              <a:rPr lang="en-US" sz="1400" b="1" dirty="0">
                <a:solidFill>
                  <a:schemeClr val="bg1"/>
                </a:solidFill>
              </a:rPr>
              <a:t>Approve Leave Requests </a:t>
            </a:r>
            <a:r>
              <a:rPr lang="en-US" sz="1400" dirty="0">
                <a:solidFill>
                  <a:schemeClr val="bg1"/>
                </a:solidFill>
              </a:rPr>
              <a:t>– Review and approve/reject employee leave applications</a:t>
            </a:r>
          </a:p>
          <a:p>
            <a:pPr marL="342900" indent="-342900">
              <a:buFont typeface="+mj-lt"/>
              <a:buAutoNum type="arabicPeriod"/>
            </a:pPr>
            <a:r>
              <a:rPr lang="en-US" sz="1400" b="1" dirty="0">
                <a:solidFill>
                  <a:schemeClr val="bg1"/>
                </a:solidFill>
              </a:rPr>
              <a:t>Approve Leave Cancellation </a:t>
            </a:r>
            <a:r>
              <a:rPr lang="en-US" sz="1400" dirty="0">
                <a:solidFill>
                  <a:schemeClr val="bg1"/>
                </a:solidFill>
              </a:rPr>
              <a:t>– Handle cancellation requests submitted by employees</a:t>
            </a:r>
          </a:p>
          <a:p>
            <a:pPr marL="342900" indent="-342900">
              <a:buFont typeface="+mj-lt"/>
              <a:buAutoNum type="arabicPeriod"/>
            </a:pPr>
            <a:r>
              <a:rPr lang="en-US" sz="1400" b="1" dirty="0">
                <a:solidFill>
                  <a:schemeClr val="bg1"/>
                </a:solidFill>
              </a:rPr>
              <a:t>Approve Compensatory Off </a:t>
            </a:r>
            <a:r>
              <a:rPr lang="en-US" sz="1400" dirty="0">
                <a:solidFill>
                  <a:schemeClr val="bg1"/>
                </a:solidFill>
              </a:rPr>
              <a:t>– Validate and approve compensatory off requests</a:t>
            </a:r>
          </a:p>
          <a:p>
            <a:pPr marL="342900" indent="-342900">
              <a:buFont typeface="+mj-lt"/>
              <a:buAutoNum type="arabicPeriod"/>
            </a:pPr>
            <a:endParaRPr lang="en-US" sz="1400" dirty="0">
              <a:solidFill>
                <a:schemeClr val="bg1"/>
              </a:solidFill>
            </a:endParaRPr>
          </a:p>
          <a:p>
            <a:pPr marL="285750" indent="-285750">
              <a:buFont typeface="Wingdings" panose="05000000000000000000" pitchFamily="2" charset="2"/>
              <a:buChar char="q"/>
            </a:pPr>
            <a:r>
              <a:rPr lang="en-US" sz="1400" dirty="0">
                <a:solidFill>
                  <a:schemeClr val="bg1"/>
                </a:solidFill>
              </a:rPr>
              <a:t>Report Section:-</a:t>
            </a:r>
          </a:p>
          <a:p>
            <a:endParaRPr lang="en-US" sz="1400" dirty="0">
              <a:solidFill>
                <a:schemeClr val="bg1"/>
              </a:solidFill>
            </a:endParaRPr>
          </a:p>
          <a:p>
            <a:pPr marL="342900" indent="-342900">
              <a:buFont typeface="+mj-lt"/>
              <a:buAutoNum type="arabicPeriod"/>
            </a:pPr>
            <a:r>
              <a:rPr lang="en-US" sz="1400" b="1" dirty="0">
                <a:solidFill>
                  <a:schemeClr val="bg1"/>
                </a:solidFill>
              </a:rPr>
              <a:t>Schedule Leave</a:t>
            </a:r>
            <a:r>
              <a:rPr lang="en-US" sz="1400" dirty="0">
                <a:solidFill>
                  <a:schemeClr val="bg1"/>
                </a:solidFill>
              </a:rPr>
              <a:t> – Generate reports on scheduled leaves for planning</a:t>
            </a:r>
          </a:p>
          <a:p>
            <a:pPr marL="342900" indent="-342900">
              <a:buFont typeface="+mj-lt"/>
              <a:buAutoNum type="arabicPeriod"/>
            </a:pPr>
            <a:r>
              <a:rPr lang="en-US" sz="1400" b="1" dirty="0">
                <a:solidFill>
                  <a:schemeClr val="bg1"/>
                </a:solidFill>
              </a:rPr>
              <a:t>Cancel Leave </a:t>
            </a:r>
            <a:r>
              <a:rPr lang="en-US" sz="1400" dirty="0">
                <a:solidFill>
                  <a:schemeClr val="bg1"/>
                </a:solidFill>
              </a:rPr>
              <a:t>– Track and report cancelled leave requests</a:t>
            </a:r>
          </a:p>
          <a:p>
            <a:pPr marL="342900" indent="-342900">
              <a:buFont typeface="+mj-lt"/>
              <a:buAutoNum type="arabicPeriod"/>
            </a:pPr>
            <a:endParaRPr lang="en-US" sz="1400" dirty="0">
              <a:solidFill>
                <a:schemeClr val="bg1"/>
              </a:solidFill>
            </a:endParaRPr>
          </a:p>
          <a:p>
            <a:pPr marL="285750" indent="-285750">
              <a:buFont typeface="Wingdings" panose="05000000000000000000" pitchFamily="2" charset="2"/>
              <a:buChar char="q"/>
            </a:pPr>
            <a:r>
              <a:rPr lang="en-US" sz="1400" dirty="0">
                <a:solidFill>
                  <a:schemeClr val="bg1"/>
                </a:solidFill>
              </a:rPr>
              <a:t>View Section:-</a:t>
            </a:r>
          </a:p>
          <a:p>
            <a:endParaRPr lang="en-US" sz="1400" dirty="0">
              <a:solidFill>
                <a:schemeClr val="bg1"/>
              </a:solidFill>
            </a:endParaRPr>
          </a:p>
          <a:p>
            <a:pPr marL="342900" indent="-342900">
              <a:buFont typeface="+mj-lt"/>
              <a:buAutoNum type="arabicPeriod"/>
            </a:pPr>
            <a:r>
              <a:rPr lang="en-US" sz="1400" b="1" dirty="0">
                <a:solidFill>
                  <a:schemeClr val="bg1"/>
                </a:solidFill>
              </a:rPr>
              <a:t>Leave Balance</a:t>
            </a:r>
            <a:r>
              <a:rPr lang="en-US" sz="1400" dirty="0">
                <a:solidFill>
                  <a:schemeClr val="bg1"/>
                </a:solidFill>
              </a:rPr>
              <a:t> – Access employee leave balances for decision‑making</a:t>
            </a:r>
          </a:p>
          <a:p>
            <a:pPr marL="342900" indent="-342900">
              <a:buFont typeface="+mj-lt"/>
              <a:buAutoNum type="arabicPeriod"/>
            </a:pPr>
            <a:r>
              <a:rPr lang="en-US" sz="1400" b="1" dirty="0">
                <a:solidFill>
                  <a:schemeClr val="bg1"/>
                </a:solidFill>
              </a:rPr>
              <a:t>Absence History </a:t>
            </a:r>
            <a:r>
              <a:rPr lang="en-US" sz="1400" dirty="0">
                <a:solidFill>
                  <a:schemeClr val="bg1"/>
                </a:solidFill>
              </a:rPr>
              <a:t>– Review detailed absence records of employees</a:t>
            </a:r>
          </a:p>
          <a:p>
            <a:pPr marL="342900" indent="-342900">
              <a:buFont typeface="+mj-lt"/>
              <a:buAutoNum type="arabicPeriod"/>
            </a:pPr>
            <a:endParaRPr lang="en-US" sz="1400" dirty="0">
              <a:solidFill>
                <a:schemeClr val="bg1"/>
              </a:solidFill>
            </a:endParaRPr>
          </a:p>
          <a:p>
            <a:pPr marL="342900" indent="-342900">
              <a:buFont typeface="Wingdings" panose="05000000000000000000" pitchFamily="2" charset="2"/>
              <a:buChar char="q"/>
            </a:pPr>
            <a:r>
              <a:rPr lang="en-US" sz="1400" dirty="0">
                <a:solidFill>
                  <a:schemeClr val="bg1"/>
                </a:solidFill>
              </a:rPr>
              <a:t>Absence Analytics</a:t>
            </a:r>
          </a:p>
          <a:p>
            <a:endParaRPr lang="en-US" sz="1400" dirty="0">
              <a:solidFill>
                <a:schemeClr val="bg1"/>
              </a:solidFill>
            </a:endParaRPr>
          </a:p>
          <a:p>
            <a:pPr marL="285750" indent="-285750">
              <a:buFont typeface="Arial" panose="020B0604020202020204" pitchFamily="34" charset="0"/>
              <a:buChar char="•"/>
            </a:pPr>
            <a:r>
              <a:rPr lang="en-US" sz="1400" dirty="0">
                <a:solidFill>
                  <a:schemeClr val="bg1"/>
                </a:solidFill>
              </a:rPr>
              <a:t>Analyze leave trends, team availability, and absence patterns for better workforce planning</a:t>
            </a:r>
          </a:p>
        </p:txBody>
      </p:sp>
    </p:spTree>
    <p:extLst>
      <p:ext uri="{BB962C8B-B14F-4D97-AF65-F5344CB8AC3E}">
        <p14:creationId xmlns:p14="http://schemas.microsoft.com/office/powerpoint/2010/main" val="1697145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BEE99-ACD3-5964-F135-709F7611EB6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7379DD5-B9E8-FEAA-AB63-B26D757F31F6}"/>
              </a:ext>
            </a:extLst>
          </p:cNvPr>
          <p:cNvSpPr>
            <a:spLocks noGrp="1"/>
          </p:cNvSpPr>
          <p:nvPr>
            <p:ph type="title"/>
          </p:nvPr>
        </p:nvSpPr>
        <p:spPr>
          <a:xfrm>
            <a:off x="4187554" y="-251728"/>
            <a:ext cx="7781544" cy="859055"/>
          </a:xfrm>
        </p:spPr>
        <p:txBody>
          <a:bodyPr>
            <a:normAutofit/>
          </a:bodyPr>
          <a:lstStyle/>
          <a:p>
            <a:r>
              <a:rPr lang="en-US" sz="3600"/>
              <a:t>FLOW DIAGRAM</a:t>
            </a:r>
            <a:endParaRPr lang="en-US" sz="3600" dirty="0"/>
          </a:p>
        </p:txBody>
      </p:sp>
      <p:sp>
        <p:nvSpPr>
          <p:cNvPr id="2" name="Slide Number Placeholder 1">
            <a:extLst>
              <a:ext uri="{FF2B5EF4-FFF2-40B4-BE49-F238E27FC236}">
                <a16:creationId xmlns:a16="http://schemas.microsoft.com/office/drawing/2014/main" id="{EBCE386B-D669-FBAA-377B-04F9F8F92324}"/>
              </a:ext>
            </a:extLst>
          </p:cNvPr>
          <p:cNvSpPr>
            <a:spLocks noGrp="1"/>
          </p:cNvSpPr>
          <p:nvPr>
            <p:ph type="sldNum" sz="quarter" idx="12"/>
          </p:nvPr>
        </p:nvSpPr>
        <p:spPr/>
        <p:txBody>
          <a:bodyPr/>
          <a:lstStyle/>
          <a:p>
            <a:fld id="{C263D6C4-4840-40CC-AC84-17E24B3B7BDE}" type="slidenum">
              <a:rPr lang="en-US" smtClean="0"/>
              <a:pPr/>
              <a:t>6</a:t>
            </a:fld>
            <a:endParaRPr lang="en-US" dirty="0"/>
          </a:p>
        </p:txBody>
      </p:sp>
      <p:pic>
        <p:nvPicPr>
          <p:cNvPr id="5" name="Picture 4">
            <a:extLst>
              <a:ext uri="{FF2B5EF4-FFF2-40B4-BE49-F238E27FC236}">
                <a16:creationId xmlns:a16="http://schemas.microsoft.com/office/drawing/2014/main" id="{7BFED2B1-5F4D-CF5C-5A4E-3480F54EC376}"/>
              </a:ext>
            </a:extLst>
          </p:cNvPr>
          <p:cNvPicPr>
            <a:picLocks noChangeAspect="1"/>
          </p:cNvPicPr>
          <p:nvPr/>
        </p:nvPicPr>
        <p:blipFill>
          <a:blip r:embed="rId2"/>
          <a:stretch>
            <a:fillRect/>
          </a:stretch>
        </p:blipFill>
        <p:spPr>
          <a:xfrm>
            <a:off x="0" y="1248838"/>
            <a:ext cx="12192000" cy="5139551"/>
          </a:xfrm>
          <a:prstGeom prst="rect">
            <a:avLst/>
          </a:prstGeom>
        </p:spPr>
      </p:pic>
    </p:spTree>
    <p:extLst>
      <p:ext uri="{BB962C8B-B14F-4D97-AF65-F5344CB8AC3E}">
        <p14:creationId xmlns:p14="http://schemas.microsoft.com/office/powerpoint/2010/main" val="598161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E6CDD-B660-E730-0B6E-2FD41AEBF28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0859A1-3006-58D3-15FE-ACE3C00AB762}"/>
              </a:ext>
            </a:extLst>
          </p:cNvPr>
          <p:cNvSpPr>
            <a:spLocks noGrp="1"/>
          </p:cNvSpPr>
          <p:nvPr>
            <p:ph type="title"/>
          </p:nvPr>
        </p:nvSpPr>
        <p:spPr>
          <a:xfrm>
            <a:off x="3964918" y="-251728"/>
            <a:ext cx="7781544" cy="859055"/>
          </a:xfrm>
        </p:spPr>
        <p:txBody>
          <a:bodyPr>
            <a:normAutofit/>
          </a:bodyPr>
          <a:lstStyle/>
          <a:p>
            <a:r>
              <a:rPr lang="en-US" sz="3600" dirty="0"/>
              <a:t>SEQUENCE DIAGRAM</a:t>
            </a:r>
          </a:p>
        </p:txBody>
      </p:sp>
      <p:sp>
        <p:nvSpPr>
          <p:cNvPr id="2" name="Slide Number Placeholder 1">
            <a:extLst>
              <a:ext uri="{FF2B5EF4-FFF2-40B4-BE49-F238E27FC236}">
                <a16:creationId xmlns:a16="http://schemas.microsoft.com/office/drawing/2014/main" id="{80A5FBF3-67A4-06A2-58C4-D6F95D27B4FC}"/>
              </a:ext>
            </a:extLst>
          </p:cNvPr>
          <p:cNvSpPr>
            <a:spLocks noGrp="1"/>
          </p:cNvSpPr>
          <p:nvPr>
            <p:ph type="sldNum" sz="quarter" idx="12"/>
          </p:nvPr>
        </p:nvSpPr>
        <p:spPr/>
        <p:txBody>
          <a:bodyPr/>
          <a:lstStyle/>
          <a:p>
            <a:fld id="{C263D6C4-4840-40CC-AC84-17E24B3B7BDE}" type="slidenum">
              <a:rPr lang="en-US" smtClean="0"/>
              <a:pPr/>
              <a:t>7</a:t>
            </a:fld>
            <a:endParaRPr lang="en-US" dirty="0"/>
          </a:p>
        </p:txBody>
      </p:sp>
      <p:pic>
        <p:nvPicPr>
          <p:cNvPr id="6" name="Picture 5" descr="A diagram with colorful squares&#10;&#10;AI-generated content may be incorrect.">
            <a:extLst>
              <a:ext uri="{FF2B5EF4-FFF2-40B4-BE49-F238E27FC236}">
                <a16:creationId xmlns:a16="http://schemas.microsoft.com/office/drawing/2014/main" id="{06D59E00-5D98-18E9-FFE9-4D97D4F4F07E}"/>
              </a:ext>
            </a:extLst>
          </p:cNvPr>
          <p:cNvPicPr>
            <a:picLocks noChangeAspect="1"/>
          </p:cNvPicPr>
          <p:nvPr/>
        </p:nvPicPr>
        <p:blipFill>
          <a:blip r:embed="rId2"/>
          <a:stretch>
            <a:fillRect/>
          </a:stretch>
        </p:blipFill>
        <p:spPr>
          <a:xfrm>
            <a:off x="2723319" y="607326"/>
            <a:ext cx="6618141" cy="6250674"/>
          </a:xfrm>
          <a:prstGeom prst="rect">
            <a:avLst/>
          </a:prstGeom>
        </p:spPr>
      </p:pic>
    </p:spTree>
    <p:extLst>
      <p:ext uri="{BB962C8B-B14F-4D97-AF65-F5344CB8AC3E}">
        <p14:creationId xmlns:p14="http://schemas.microsoft.com/office/powerpoint/2010/main" val="872466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A8A60-9F8E-A980-9F1B-1162C68250D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988F25D-B7C2-59FC-67D2-E1E5D607A0A9}"/>
              </a:ext>
            </a:extLst>
          </p:cNvPr>
          <p:cNvSpPr>
            <a:spLocks noGrp="1"/>
          </p:cNvSpPr>
          <p:nvPr>
            <p:ph type="title"/>
          </p:nvPr>
        </p:nvSpPr>
        <p:spPr>
          <a:xfrm>
            <a:off x="3297008" y="-339192"/>
            <a:ext cx="7781544" cy="859055"/>
          </a:xfrm>
        </p:spPr>
        <p:txBody>
          <a:bodyPr>
            <a:normAutofit/>
          </a:bodyPr>
          <a:lstStyle/>
          <a:p>
            <a:r>
              <a:rPr lang="en-US" sz="3600" dirty="0"/>
              <a:t>ARCHITECTURE DIAGRAM</a:t>
            </a:r>
          </a:p>
        </p:txBody>
      </p:sp>
      <p:sp>
        <p:nvSpPr>
          <p:cNvPr id="2" name="Slide Number Placeholder 1">
            <a:extLst>
              <a:ext uri="{FF2B5EF4-FFF2-40B4-BE49-F238E27FC236}">
                <a16:creationId xmlns:a16="http://schemas.microsoft.com/office/drawing/2014/main" id="{FB29EBC1-8B3C-8332-DF30-CC59EDA38263}"/>
              </a:ext>
            </a:extLst>
          </p:cNvPr>
          <p:cNvSpPr>
            <a:spLocks noGrp="1"/>
          </p:cNvSpPr>
          <p:nvPr>
            <p:ph type="sldNum" sz="quarter" idx="12"/>
          </p:nvPr>
        </p:nvSpPr>
        <p:spPr/>
        <p:txBody>
          <a:bodyPr/>
          <a:lstStyle/>
          <a:p>
            <a:fld id="{C263D6C4-4840-40CC-AC84-17E24B3B7BDE}" type="slidenum">
              <a:rPr lang="en-US" smtClean="0"/>
              <a:pPr/>
              <a:t>8</a:t>
            </a:fld>
            <a:endParaRPr lang="en-US" dirty="0"/>
          </a:p>
        </p:txBody>
      </p:sp>
      <p:pic>
        <p:nvPicPr>
          <p:cNvPr id="5" name="Picture 4" descr="A diagram of a software company&#10;&#10;AI-generated content may be incorrect.">
            <a:extLst>
              <a:ext uri="{FF2B5EF4-FFF2-40B4-BE49-F238E27FC236}">
                <a16:creationId xmlns:a16="http://schemas.microsoft.com/office/drawing/2014/main" id="{D1DC67BB-EC39-AE02-A6F0-AE0EF5EC7735}"/>
              </a:ext>
            </a:extLst>
          </p:cNvPr>
          <p:cNvPicPr>
            <a:picLocks noChangeAspect="1"/>
          </p:cNvPicPr>
          <p:nvPr/>
        </p:nvPicPr>
        <p:blipFill>
          <a:blip r:embed="rId2"/>
          <a:stretch>
            <a:fillRect/>
          </a:stretch>
        </p:blipFill>
        <p:spPr>
          <a:xfrm>
            <a:off x="3007502" y="453224"/>
            <a:ext cx="6176996" cy="6404776"/>
          </a:xfrm>
          <a:prstGeom prst="rect">
            <a:avLst/>
          </a:prstGeom>
        </p:spPr>
      </p:pic>
    </p:spTree>
    <p:extLst>
      <p:ext uri="{BB962C8B-B14F-4D97-AF65-F5344CB8AC3E}">
        <p14:creationId xmlns:p14="http://schemas.microsoft.com/office/powerpoint/2010/main" val="7001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96445-E615-95B8-A50F-BE3531CEEE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235619B-EA2C-FADF-DC42-290398895809}"/>
              </a:ext>
            </a:extLst>
          </p:cNvPr>
          <p:cNvSpPr>
            <a:spLocks noGrp="1"/>
          </p:cNvSpPr>
          <p:nvPr>
            <p:ph type="title"/>
          </p:nvPr>
        </p:nvSpPr>
        <p:spPr>
          <a:xfrm>
            <a:off x="3575304" y="-307387"/>
            <a:ext cx="7781544" cy="859055"/>
          </a:xfrm>
        </p:spPr>
        <p:txBody>
          <a:bodyPr>
            <a:normAutofit/>
          </a:bodyPr>
          <a:lstStyle/>
          <a:p>
            <a:r>
              <a:rPr lang="en-US" sz="3600" dirty="0"/>
              <a:t>TECHNOLOGY STACK</a:t>
            </a:r>
          </a:p>
        </p:txBody>
      </p:sp>
      <p:sp>
        <p:nvSpPr>
          <p:cNvPr id="2" name="Slide Number Placeholder 1">
            <a:extLst>
              <a:ext uri="{FF2B5EF4-FFF2-40B4-BE49-F238E27FC236}">
                <a16:creationId xmlns:a16="http://schemas.microsoft.com/office/drawing/2014/main" id="{F026136D-1900-0B80-B26F-0F50B911EA94}"/>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
        <p:nvSpPr>
          <p:cNvPr id="3" name="TextBox 2">
            <a:extLst>
              <a:ext uri="{FF2B5EF4-FFF2-40B4-BE49-F238E27FC236}">
                <a16:creationId xmlns:a16="http://schemas.microsoft.com/office/drawing/2014/main" id="{25D70130-01A4-E809-9DE1-67275CFFB937}"/>
              </a:ext>
            </a:extLst>
          </p:cNvPr>
          <p:cNvSpPr txBox="1"/>
          <p:nvPr/>
        </p:nvSpPr>
        <p:spPr>
          <a:xfrm>
            <a:off x="851982" y="1669774"/>
            <a:ext cx="5446643" cy="3785652"/>
          </a:xfrm>
          <a:prstGeom prst="rect">
            <a:avLst/>
          </a:prstGeom>
          <a:noFill/>
        </p:spPr>
        <p:txBody>
          <a:bodyPr wrap="square" rtlCol="0">
            <a:spAutoFit/>
          </a:bodyPr>
          <a:lstStyle/>
          <a:p>
            <a:pPr marL="285750" indent="-285750" algn="just">
              <a:buFont typeface="Wingdings" panose="05000000000000000000" pitchFamily="2" charset="2"/>
              <a:buChar char="q"/>
            </a:pPr>
            <a:r>
              <a:rPr lang="en-US" sz="1600" dirty="0">
                <a:solidFill>
                  <a:schemeClr val="bg1"/>
                </a:solidFill>
              </a:rPr>
              <a:t>Frontend: </a:t>
            </a:r>
            <a:r>
              <a:rPr lang="en-US" sz="1600" b="1" dirty="0">
                <a:solidFill>
                  <a:schemeClr val="bg1"/>
                </a:solidFill>
              </a:rPr>
              <a:t>Angular</a:t>
            </a:r>
            <a:r>
              <a:rPr lang="en-US" sz="1600" dirty="0">
                <a:solidFill>
                  <a:schemeClr val="bg1"/>
                </a:solidFill>
              </a:rPr>
              <a:t> – Builds responsive, role-based dashboards for employees and managers</a:t>
            </a:r>
          </a:p>
          <a:p>
            <a:pPr algn="just"/>
            <a:endParaRPr lang="en-US" sz="1600" dirty="0">
              <a:solidFill>
                <a:schemeClr val="bg1"/>
              </a:solidFill>
            </a:endParaRPr>
          </a:p>
          <a:p>
            <a:pPr marL="285750" indent="-285750" algn="just">
              <a:buFont typeface="Wingdings" panose="05000000000000000000" pitchFamily="2" charset="2"/>
              <a:buChar char="q"/>
            </a:pPr>
            <a:endParaRPr lang="en-US" sz="1600" dirty="0">
              <a:solidFill>
                <a:schemeClr val="bg1"/>
              </a:solidFill>
            </a:endParaRPr>
          </a:p>
          <a:p>
            <a:pPr marL="285750" indent="-285750" algn="just">
              <a:buFont typeface="Wingdings" panose="05000000000000000000" pitchFamily="2" charset="2"/>
              <a:buChar char="q"/>
            </a:pPr>
            <a:r>
              <a:rPr lang="en-US" sz="1600" dirty="0">
                <a:solidFill>
                  <a:schemeClr val="bg1"/>
                </a:solidFill>
              </a:rPr>
              <a:t>Backend: </a:t>
            </a:r>
            <a:r>
              <a:rPr lang="en-US" sz="1600" b="1" dirty="0">
                <a:solidFill>
                  <a:schemeClr val="bg1"/>
                </a:solidFill>
              </a:rPr>
              <a:t>Spring Boot </a:t>
            </a:r>
            <a:r>
              <a:rPr lang="en-US" sz="1600" dirty="0">
                <a:solidFill>
                  <a:schemeClr val="bg1"/>
                </a:solidFill>
              </a:rPr>
              <a:t>– Handles business logic and exposes REST APIs for LRMS modules</a:t>
            </a:r>
          </a:p>
          <a:p>
            <a:pPr algn="just"/>
            <a:endParaRPr lang="en-US" sz="1600" dirty="0">
              <a:solidFill>
                <a:schemeClr val="bg1"/>
              </a:solidFill>
            </a:endParaRPr>
          </a:p>
          <a:p>
            <a:pPr marL="285750" indent="-285750" algn="just">
              <a:buFont typeface="Wingdings" panose="05000000000000000000" pitchFamily="2" charset="2"/>
              <a:buChar char="q"/>
            </a:pPr>
            <a:endParaRPr lang="en-US" sz="1600" dirty="0">
              <a:solidFill>
                <a:schemeClr val="bg1"/>
              </a:solidFill>
            </a:endParaRPr>
          </a:p>
          <a:p>
            <a:pPr marL="285750" indent="-285750" algn="just">
              <a:buFont typeface="Wingdings" panose="05000000000000000000" pitchFamily="2" charset="2"/>
              <a:buChar char="q"/>
            </a:pPr>
            <a:r>
              <a:rPr lang="en-US" sz="1600" dirty="0">
                <a:solidFill>
                  <a:schemeClr val="bg1"/>
                </a:solidFill>
              </a:rPr>
              <a:t>Database: </a:t>
            </a:r>
            <a:r>
              <a:rPr lang="en-US" sz="1600" b="1" dirty="0">
                <a:solidFill>
                  <a:schemeClr val="bg1"/>
                </a:solidFill>
              </a:rPr>
              <a:t>MySQL</a:t>
            </a:r>
            <a:r>
              <a:rPr lang="en-US" sz="1600" dirty="0">
                <a:solidFill>
                  <a:schemeClr val="bg1"/>
                </a:solidFill>
              </a:rPr>
              <a:t> – Stores user, leave, approval, and historical data securely</a:t>
            </a:r>
          </a:p>
          <a:p>
            <a:pPr algn="just"/>
            <a:endParaRPr lang="en-US" sz="1600" dirty="0">
              <a:solidFill>
                <a:schemeClr val="bg1"/>
              </a:solidFill>
            </a:endParaRPr>
          </a:p>
          <a:p>
            <a:pPr marL="285750" indent="-285750" algn="just">
              <a:buFont typeface="Wingdings" panose="05000000000000000000" pitchFamily="2" charset="2"/>
              <a:buChar char="q"/>
            </a:pPr>
            <a:endParaRPr lang="en-US" sz="1600" dirty="0">
              <a:solidFill>
                <a:schemeClr val="bg1"/>
              </a:solidFill>
            </a:endParaRPr>
          </a:p>
          <a:p>
            <a:pPr marL="285750" indent="-285750" algn="just">
              <a:buFont typeface="Wingdings" panose="05000000000000000000" pitchFamily="2" charset="2"/>
              <a:buChar char="q"/>
            </a:pPr>
            <a:r>
              <a:rPr lang="en-US" sz="1600" dirty="0">
                <a:solidFill>
                  <a:schemeClr val="bg1"/>
                </a:solidFill>
              </a:rPr>
              <a:t>Security: JWT Authentication, Role-Based Authorization, Secure APIs, and Data Protection</a:t>
            </a:r>
          </a:p>
          <a:p>
            <a:pPr algn="just"/>
            <a:endParaRPr lang="en-US" sz="1600" dirty="0">
              <a:solidFill>
                <a:schemeClr val="bg1"/>
              </a:solidFill>
            </a:endParaRPr>
          </a:p>
        </p:txBody>
      </p:sp>
    </p:spTree>
    <p:extLst>
      <p:ext uri="{BB962C8B-B14F-4D97-AF65-F5344CB8AC3E}">
        <p14:creationId xmlns:p14="http://schemas.microsoft.com/office/powerpoint/2010/main" val="1612075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792</TotalTime>
  <Words>472</Words>
  <Application>Microsoft Office PowerPoint</Application>
  <PresentationFormat>Widescreen</PresentationFormat>
  <Paragraphs>77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Trade Gothic LT Pro</vt:lpstr>
      <vt:lpstr>Trebuchet MS</vt:lpstr>
      <vt:lpstr>Wingdings</vt:lpstr>
      <vt:lpstr>Office Theme</vt:lpstr>
      <vt:lpstr>LEAVE REQUEST MANAGEMENT SYSTEM</vt:lpstr>
      <vt:lpstr>PROBLEM STATEMENT</vt:lpstr>
      <vt:lpstr>SOLUTION</vt:lpstr>
      <vt:lpstr>FEATURES FOR EMPLOYEE</vt:lpstr>
      <vt:lpstr>FEATURES FOR MANAGER</vt:lpstr>
      <vt:lpstr>FLOW DIAGRAM</vt:lpstr>
      <vt:lpstr>SEQUENCE DIAGRAM</vt:lpstr>
      <vt:lpstr>ARCHITECTURE DIAGRAM</vt:lpstr>
      <vt:lpstr>TECHNOLOGY STACK</vt:lpstr>
      <vt:lpstr>Thank You !!</vt:lpstr>
    </vt:vector>
  </TitlesOfParts>
  <Company>Cognizant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Shiravale, Sahil (Cognizant)</dc:creator>
  <cp:lastModifiedBy>Shiravale, Sahil (Cognizant)</cp:lastModifiedBy>
  <cp:revision>1</cp:revision>
  <dcterms:created xsi:type="dcterms:W3CDTF">2025-12-16T05:14:00Z</dcterms:created>
  <dcterms:modified xsi:type="dcterms:W3CDTF">2025-12-17T16:59:00Z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